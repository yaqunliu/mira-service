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397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73BD37-0A4B-4A66-9927-4BB2253D0FE1}">
          <p14:sldIdLst/>
        </p14:section>
        <p14:section name="いただいていた情報" id="{DD873206-5943-4484-A1D4-06977CB94B0F}">
          <p14:sldIdLst/>
        </p14:section>
        <p14:section name="アクションプラン案" id="{3809D747-99BD-482A-9DA3-4CC7BBA781D4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E6FF"/>
    <a:srgbClr val="2F2F2F"/>
    <a:srgbClr val="666666"/>
    <a:srgbClr val="000000"/>
    <a:srgbClr val="8661C5"/>
    <a:srgbClr val="D59D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D4086-6760-4A07-A2C0-2C57329AC766}" type="datetime8">
              <a:rPr lang="en-US" altLang="ja-JP" smtClean="0">
                <a:latin typeface="Segoe UI" pitchFamily="34" charset="0"/>
              </a:rPr>
              <a:t>2/3/2026 2:53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03A3E576-4155-45F8-A593-6555FE5C48FD}" type="datetime8">
              <a:rPr lang="en-US" altLang="ja-JP" smtClean="0"/>
              <a:t>2/3/2026 2:53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📌 Generated by: git@github.com:GMonkeyLtd/mira-service.git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</a:t>
            </a:r>
          </a:p>
          <a:p>
            <a:r>
              <a:t>🔧 This presentation was created using Ag-ppt-create</a:t>
            </a:r>
          </a:p>
          <a:p>
            <a:r>
              <a:t>git@github.com:GMonkeyLtd/mira-service.git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AFD7-27EC-4AAC-9148-071552814DE8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64D3-2858-4508-9323-A448B683F999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4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260348" cy="687298"/>
          </a:xfrm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EF27-197B-424C-8D2E-B3D85D11400C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F737D20-642B-FF52-1398-DEB9E9031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0572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0666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0978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8DA29A1-2D04-4FAF-806C-C63B316ECD02}" type="datetime1">
              <a:rPr lang="ja-JP" altLang="en-US" smtClean="0"/>
              <a:t>2026/2/3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7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867024"/>
            <a:ext cx="9144000" cy="66479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46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25308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EB4A-72BC-4164-BE3F-B53EA82F5E0D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8" r:id="rId1"/>
    <p:sldLayoutId id="2147485399" r:id="rId2"/>
    <p:sldLayoutId id="2147485405" r:id="rId3"/>
    <p:sldLayoutId id="2147485400" r:id="rId4"/>
    <p:sldLayoutId id="214748540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Manju Agent 架构设计分享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723"/>
            <a:ext cx="9144000" cy="1655762"/>
          </a:xfrm>
        </p:spPr>
        <p:txBody>
          <a:bodyPr/>
          <a:lstStyle/>
          <a:p>
            <a:r>
              <a:t>从理论到实践的技术探索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常见 Agent 架构模式 - 业界主流方案概览</a:t>
            </a:r>
          </a:p>
          <a:p>
            <a:pPr/>
            <a:r>
              <a:t>漫剧创作业务流程 - 从剧本到视频的完整链路</a:t>
            </a:r>
          </a:p>
          <a:p>
            <a:pPr/>
            <a:r>
              <a:t>为什么选择 Supervisor 架构 - 技术选型思考</a:t>
            </a:r>
          </a:p>
          <a:p>
            <a:pPr/>
            <a:r>
              <a:t>我们的架构设计 - 系统实现详解</a:t>
            </a:r>
          </a:p>
          <a:p>
            <a:pPr/>
            <a:r>
              <a:t>踩过的坑 - 问题与解决方案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第一章：常见 Agent 架构模式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ReAct 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Reasoning + Acting 交替循环</a:t>
            </a:r>
          </a:p>
          <a:p>
            <a:pPr/>
            <a:r>
              <a:t>流程: Thought → Action → Observation → Thought → ...</a:t>
            </a:r>
          </a:p>
          <a:p>
            <a:pPr/>
            <a:r>
              <a:t>LLM 自主决定何时调用工具</a:t>
            </a:r>
          </a:p>
          <a:p>
            <a:pPr/>
            <a:r>
              <a:t>每次观察后重新思考</a:t>
            </a:r>
          </a:p>
          <a:p>
            <a:pPr/>
            <a:r>
              <a:t>适合探索性任务</a:t>
            </a:r>
          </a:p>
          <a:p>
            <a:pPr/>
            <a:r>
              <a:t>示例: 帮我查一下项目进度，如果角色图还没生成就开始生成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Plan-and-Execute 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先规划，后执行</a:t>
            </a:r>
          </a:p>
          <a:p>
            <a:pPr/>
            <a:r>
              <a:t>Planner (生成计划) → Executor (逐步执行)</a:t>
            </a:r>
          </a:p>
          <a:p>
            <a:pPr/>
            <a:r>
              <a:t>计划可预览、可修改</a:t>
            </a:r>
          </a:p>
          <a:p>
            <a:pPr/>
            <a:r>
              <a:t>执行过程确定性高</a:t>
            </a:r>
          </a:p>
          <a:p>
            <a:pPr/>
            <a:r>
              <a:t>适合复杂多步骤任务</a:t>
            </a:r>
          </a:p>
          <a:p>
            <a:pPr/>
            <a:r>
              <a:t>示例: 帮我一键生成整个漫剧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Supervisor-Worker 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中央调度 + 专业分工</a:t>
            </a:r>
          </a:p>
          <a:p>
            <a:pPr/>
            <a:r>
              <a:t>Supervisor 统一决策，分发任务给 Workers</a:t>
            </a:r>
          </a:p>
          <a:p>
            <a:pPr/>
            <a:r>
              <a:t>职责清晰，便于维护</a:t>
            </a:r>
          </a:p>
          <a:p>
            <a:pPr/>
            <a:r>
              <a:t>适合流程化生产任务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架构模式对比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ReAct: 灵活自主，但不可控难预测</a:t>
            </a:r>
          </a:p>
          <a:p>
            <a:pPr/>
            <a:r>
              <a:t>Plan-Execute: 可预览确定性高，规划开销大</a:t>
            </a:r>
          </a:p>
          <a:p>
            <a:pPr/>
            <a:r>
              <a:t>Supervisor: 职责清晰易扩展，需精心设计</a:t>
            </a:r>
          </a:p>
          <a:p>
            <a:pPr/>
            <a:r>
              <a:t>Workflow: 确定性最高，但不灵活难处理异常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第二章：漫剧创作业务流程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完整创作链路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剧本上传 → 剧本分析 (识别角色+场景)</a:t>
            </a:r>
          </a:p>
          <a:p>
            <a:pPr/>
            <a:r>
              <a:t>资产生成: 角色/场景提示词 → 图片生成</a:t>
            </a:r>
          </a:p>
          <a:p>
            <a:pPr/>
            <a:r>
              <a:t>分镜设计: 分镜脚本 + 提示词设计</a:t>
            </a:r>
          </a:p>
          <a:p>
            <a:pPr/>
            <a:r>
              <a:t>分镜图生成: 首帧/尾帧图片</a:t>
            </a:r>
          </a:p>
          <a:p>
            <a:pPr/>
            <a:r>
              <a:t>分镜视频生成: 首尾帧/仅首帧/参考图模式</a:t>
            </a:r>
          </a:p>
          <a:p>
            <a:pPr/>
            <a:r>
              <a:t>音频处理 (旁白、音效、BGM) → 最终合成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剧本分析阶段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输入: 用户上传的剧本文本</a:t>
            </a:r>
          </a:p>
          <a:p>
            <a:pPr/>
            <a:r>
              <a:t>输出: 角色列表 (姓名、性别、年龄、外貌、性格)</a:t>
            </a:r>
          </a:p>
          <a:p>
            <a:pPr/>
            <a:r>
              <a:t>输出: 场景列表 (名称、环境、时间、氛围)</a:t>
            </a:r>
          </a:p>
          <a:p>
            <a:pPr/>
            <a:r>
              <a:t>技术要点: LLM 结构化输出 (JSON Schema)</a:t>
            </a:r>
          </a:p>
          <a:p>
            <a:pPr/>
            <a:r>
              <a:t>多轮提取保证完整性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资产生成阶段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角色/场景 → LLM 生成英文 Image Prompt</a:t>
            </a:r>
          </a:p>
          <a:p>
            <a:pPr/>
            <a:r>
              <a:t>调用图片生成模型 (豆包/Stable Diffusion)</a:t>
            </a:r>
          </a:p>
          <a:p>
            <a:pPr/>
            <a:r>
              <a:t>异步任务 + 轮询状态</a:t>
            </a:r>
          </a:p>
          <a:p>
            <a:pPr/>
            <a:r>
              <a:t>支持重新生成和手动修改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分镜与视频生成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分镜脚本: 镜头描述、时长、旁白、场景、角色</a:t>
            </a:r>
          </a:p>
          <a:p>
            <a:pPr/>
            <a:r>
              <a:t>首尾帧模式: 首帧图 + 尾帧图 → 动作连贯镜头</a:t>
            </a:r>
          </a:p>
          <a:p>
            <a:pPr/>
            <a:r>
              <a:t>仅首帧模式: 首帧图 + 视频提示词 → 自由运动镜头</a:t>
            </a:r>
          </a:p>
          <a:p>
            <a:pPr/>
            <a:r>
              <a:t>参考图模式: 参考图 + 提示词 → 风格参考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第三章：为什么选择 Supervisor 架构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业务特点分析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流程明确: 剧本→角色→分镜→视频，有固定顺序</a:t>
            </a:r>
          </a:p>
          <a:p>
            <a:pPr/>
            <a:r>
              <a:t>需要人工介入: 每个阶段需要用户确认</a:t>
            </a:r>
          </a:p>
          <a:p>
            <a:pPr/>
            <a:r>
              <a:t>任务可拆分: 每个阶段职责单一</a:t>
            </a:r>
          </a:p>
          <a:p>
            <a:pPr/>
            <a:r>
              <a:t>需要灵活跳转: 用户可能要求"重新生成某个角色"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为什么不选其他方案？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过于死板: 用户说"跳过这一步"怎么办？</a:t>
            </a:r>
          </a:p>
          <a:p>
            <a:pPr/>
            <a:r>
              <a:t>异常处理难: 某个节点失败整个流程卡死</a:t>
            </a:r>
          </a:p>
          <a:p>
            <a:pPr/>
            <a:r>
              <a:t>扩展困难: 新增阶段需改动大量代码</a:t>
            </a:r>
          </a:p>
          <a:p>
            <a:pPr/>
            <a:r>
              <a:t>不可控: LLM 可能"自由发挥"跳过重要步骤</a:t>
            </a:r>
          </a:p>
          <a:p>
            <a:pPr/>
            <a:r>
              <a:t>调试困难: 每次执行路径都不一样</a:t>
            </a:r>
          </a:p>
          <a:p>
            <a:pPr/>
            <a:r>
              <a:t>Token 消耗大，可能陷入死循环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Supervisor 架构的优势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统一决策点: Supervisor 做路由，便于控制流程</a:t>
            </a:r>
          </a:p>
          <a:p>
            <a:pPr/>
            <a:r>
              <a:t>职责清晰: 每个 Worker 专注自己的任务</a:t>
            </a:r>
          </a:p>
          <a:p>
            <a:pPr/>
            <a:r>
              <a:t>灵活跳转: Supervisor 可以决定下一步去哪</a:t>
            </a:r>
          </a:p>
          <a:p>
            <a:pPr/>
            <a:r>
              <a:t>易于扩展: 新增 Worker 只需注册到 Supervisor</a:t>
            </a:r>
          </a:p>
          <a:p>
            <a:pPr/>
            <a:r>
              <a:t>HITL 友好: Supervisor 统一管理人工介入点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第四章：我们的架构设计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双层 Graph 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主图 (DialogueGraph): entry → intent_detection → 分支处理</a:t>
            </a:r>
          </a:p>
          <a:p>
            <a:pPr/>
            <a:r>
              <a:t>分支: status_query / task_execution / clarify</a:t>
            </a:r>
          </a:p>
          <a:p>
            <a:pPr/>
            <a:r>
              <a:t>子图 (ComicDramaSubgraph): stage_router → supervisor ⇅ Workers</a:t>
            </a:r>
          </a:p>
          <a:p>
            <a:pPr/>
            <a:r>
              <a:t>7 个专业 Workers 处理不同任务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Worker 节点列表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script_analyst: 剧本分析 (save_characters, save_scenes)</a:t>
            </a:r>
          </a:p>
          <a:p>
            <a:pPr/>
            <a:r>
              <a:t>asset_designer: 资产生成 (query_*, save_*_prompt, submit_*_image)</a:t>
            </a:r>
          </a:p>
          <a:p>
            <a:pPr/>
            <a:r>
              <a:t>storyboard_director: 分镜创作 (save_shots)</a:t>
            </a:r>
          </a:p>
          <a:p>
            <a:pPr/>
            <a:r>
              <a:t>audio_engineer: 音频处理 (generate_audio)</a:t>
            </a:r>
          </a:p>
          <a:p>
            <a:pPr/>
            <a:r>
              <a:t>video_editor: 视频生成 (generate_shot_videos)</a:t>
            </a:r>
          </a:p>
          <a:p>
            <a:pPr/>
            <a:r>
              <a:t>asset_regenerator: 资产重生成 (综合多个 Tools)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Supervisor 决策机制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强制工具调用模式</a:t>
            </a:r>
            <a:br/>
            <a:r>
              <a:t>tool_choice = {</a:t>
            </a:r>
            <a:br/>
            <a:r>
              <a:t>    "type": "function", </a:t>
            </a:r>
            <a:br/>
            <a:r>
              <a:t>    "function": {"name": "supervisor_decision"}</a:t>
            </a:r>
            <a:br/>
            <a:r>
              <a:t>}</a:t>
            </a:r>
            <a:br/>
            <a:br/>
            <a:r>
              <a:t># 决策输出结构</a:t>
            </a:r>
            <a:br/>
            <a:r>
              <a:t>{</a:t>
            </a:r>
            <a:br/>
            <a:r>
              <a:t>    "next_worker": "asset_designer",</a:t>
            </a:r>
            <a:br/>
            <a:r>
              <a:t>    "needs_input": False,</a:t>
            </a:r>
            <a:br/>
            <a:r>
              <a:t>    "board_actions": [...],</a:t>
            </a:r>
            <a:br/>
            <a:r>
              <a:t>    "response_text": "正在生成图片..."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工具分类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db_tools.py</a:t>
            </a:r>
          </a:p>
          <a:p>
            <a:pPr/>
            <a:r>
              <a:t>query_characters / query_scenes / query_shots</a:t>
            </a:r>
          </a:p>
          <a:p>
            <a:pPr/>
            <a:r>
              <a:t>save_characters / save_scenes / save_shots</a:t>
            </a:r>
          </a:p>
          <a:p>
            <a:pPr/>
            <a:r>
              <a:t>update_* 系列</a:t>
            </a:r>
          </a:p>
          <a:p>
            <a:pPr/>
            <a:r>
              <a:t>agent_generation_tools.py</a:t>
            </a:r>
          </a:p>
          <a:p>
            <a:pPr/>
            <a:r>
              <a:t>generate_character_image / generate_scene_image</a:t>
            </a:r>
          </a:p>
          <a:p>
            <a:pPr/>
            <a:r>
              <a:t>generate_shot_images / generate_shot_videos</a:t>
            </a:r>
          </a:p>
          <a:p>
            <a:pPr/>
            <a:r>
              <a:t>check_task_status / check_task_group_status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第五章：踩过的坑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从 Workflow 到 Supervisor 的转变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最初设计: 固定流程，无法跳转，异常难处理</a:t>
            </a:r>
          </a:p>
          <a:p>
            <a:pPr/>
            <a:r>
              <a:t>问题: 用户说"跳过角色生成" → 无法处理</a:t>
            </a:r>
          </a:p>
          <a:p>
            <a:pPr/>
            <a:r>
              <a:t>问题: 某个节点报错 → 整个流程卡死</a:t>
            </a:r>
          </a:p>
          <a:p>
            <a:pPr/>
            <a:r>
              <a:t>问题: 新增"重新生成"功能 → 需要大量条件判断</a:t>
            </a:r>
          </a:p>
          <a:p>
            <a:pPr/>
            <a:r>
              <a:t>解决方案: 重构为 Supervisor 架构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Supervisor 决策不准的问题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现象: 用户说"继续生成"，却调度了错误的 Worker</a:t>
            </a:r>
          </a:p>
          <a:p>
            <a:pPr/>
            <a:r>
              <a:t>原因: Prompt 不够明确，状态信息不完整</a:t>
            </a:r>
          </a:p>
          <a:p>
            <a:pPr/>
            <a:r>
              <a:t>解决方案 1: 状态注入 - 每次决策前注入 production_stage</a:t>
            </a:r>
          </a:p>
          <a:p>
            <a:pPr/>
            <a:r>
              <a:t>解决方案 2: Prompt 硬规则 - 明确阶段对应的行为</a:t>
            </a:r>
          </a:p>
          <a:p>
            <a:pPr/>
            <a:r>
              <a:t>解决方案 3: 强制工具调用 - 使用 tool_choice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内部思考逻辑不能对外暴露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现象: 用户看到 "根据 JSON 解析结果..." 等内部信息</a:t>
            </a:r>
          </a:p>
          <a:p>
            <a:pPr/>
            <a:r>
              <a:t>原因: LLM 的 token 流直接暴露给用户</a:t>
            </a:r>
          </a:p>
          <a:p>
            <a:pPr/>
            <a:r>
              <a:t>解决方案: 可见性白名单</a:t>
            </a:r>
          </a:p>
          <a:p>
            <a:pPr/>
            <a:r>
              <a:t>只有 supervisor、clarify 节点的消息才发送给用户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Tool 调用失败的异常处理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现象: 图片生成超时/数据库连接失败/Celery任务失败</a:t>
            </a:r>
          </a:p>
          <a:p>
            <a:pPr/>
            <a:r>
              <a:t>解决方案 1: 工具级容错 - try/except 返回错误信息</a:t>
            </a:r>
          </a:p>
          <a:p>
            <a:pPr/>
            <a:r>
              <a:t>解决方案 2: 节点级回滚 - 回退到上一个稳定阶段</a:t>
            </a:r>
          </a:p>
          <a:p>
            <a:pPr/>
            <a:r>
              <a:t>解决方案 3: 超时保护 - asyncio.timeout(300)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 Worker 节点迭代轮数过多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现象: ReAct 循环 23/25，GraphRecursionError</a:t>
            </a:r>
          </a:p>
          <a:p>
            <a:pPr/>
            <a:r>
              <a:t>原因: 每个资产生成都触发一轮 ReAct</a:t>
            </a:r>
          </a:p>
          <a:p>
            <a:pPr/>
            <a:r>
              <a:t>解决方案 1: 批量处理 - 一次工具调用处理多个资产</a:t>
            </a:r>
          </a:p>
          <a:p>
            <a:pPr/>
            <a:r>
              <a:t>解决方案 2: 提高递归限制 - graph.recursion_limit = 50</a:t>
            </a:r>
          </a:p>
          <a:p>
            <a:pPr/>
            <a:r>
              <a:t>解决方案 3: 合并工具调用 - submit_character_images([...])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5.6 AI 编码过程中的问题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问题 1: 修复 Bug A → 引入 Bug B → 修复 B → A 又出现</a:t>
            </a:r>
          </a:p>
          <a:p>
            <a:pPr/>
            <a:r>
              <a:t>问题 2: 代码越写越冗余，5个Worker重复代码</a:t>
            </a:r>
          </a:p>
          <a:p>
            <a:pPr/>
            <a:r>
              <a:t>问题 3: 解决 Bug 引入新 Bug</a:t>
            </a:r>
          </a:p>
          <a:p>
            <a:pPr/>
            <a:r>
              <a:t>解决: 充分上下文 + 分步验证 + 及时回滚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总结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核心收获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架构选型要匹配业务特点: 流程化→Supervisor，探索性→ReAct</a:t>
            </a:r>
          </a:p>
          <a:p>
            <a:pPr/>
            <a:r>
              <a:t>Prompt 工程是核心竞争力: 明确规则比"智能"更可靠</a:t>
            </a:r>
          </a:p>
          <a:p>
            <a:pPr/>
            <a:r>
              <a:t>异常处理要前置设计: 每个环节都可能失败，优雅降级</a:t>
            </a:r>
          </a:p>
          <a:p>
            <a:pPr/>
            <a:r>
              <a:t>AI 编码需要人工把关: 充分上下文，小步快跑及时验证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500563"/>
            <a:ext cx="1082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646464"/>
                </a:solidFill>
              </a:defRPr>
            </a:pPr>
            <a:r>
              <a:t>有问题欢迎提问！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92b655a-ec86-4731-b25e-ce4ddeb8f50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14B0F575CA0844802D129D294118DE" ma:contentTypeVersion="15" ma:contentTypeDescription="Create a new document." ma:contentTypeScope="" ma:versionID="ddeb9392fca9bbc19e06b6db1f4d7da5">
  <xsd:schema xmlns:xsd="http://www.w3.org/2001/XMLSchema" xmlns:xs="http://www.w3.org/2001/XMLSchema" xmlns:p="http://schemas.microsoft.com/office/2006/metadata/properties" xmlns:ns1="http://schemas.microsoft.com/sharepoint/v3" xmlns:ns2="492b655a-ec86-4731-b25e-ce4ddeb8f50a" xmlns:ns3="3a08ec24-c134-4431-b5bd-1238984bf104" targetNamespace="http://schemas.microsoft.com/office/2006/metadata/properties" ma:root="true" ma:fieldsID="b4aac29b193bd248a2c97bf3d1b392e3" ns1:_="" ns2:_="" ns3:_="">
    <xsd:import namespace="http://schemas.microsoft.com/sharepoint/v3"/>
    <xsd:import namespace="492b655a-ec86-4731-b25e-ce4ddeb8f50a"/>
    <xsd:import namespace="3a08ec24-c134-4431-b5bd-1238984bf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b655a-ec86-4731-b25e-ce4ddeb8f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8ec24-c134-4431-b5bd-1238984bf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2C5518-CD65-41F9-81F5-3B54EA95E1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464A2-010A-429F-B102-182C12F712B5}">
  <ds:schemaRefs>
    <ds:schemaRef ds:uri="3a08ec24-c134-4431-b5bd-1238984bf104"/>
    <ds:schemaRef ds:uri="492b655a-ec86-4731-b25e-ce4ddeb8f5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26463-9703-463C-8B84-43B770C9AC27}">
  <ds:schemaRefs>
    <ds:schemaRef ds:uri="3a08ec24-c134-4431-b5bd-1238984bf104"/>
    <ds:schemaRef ds:uri="492b655a-ec86-4731-b25e-ce4ddeb8f5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BIZ UDPゴシック</vt:lpstr>
      <vt:lpstr>游ゴシック</vt:lpstr>
      <vt:lpstr>Arial</vt:lpstr>
      <vt:lpstr>Segoe UI</vt:lpstr>
      <vt:lpstr>Office テーマ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オンプレミス環境におけるAzure Backupのご紹介</dc:title>
  <dc:subject/>
  <dc:creator>Tatsumi Yamamoto</dc:creator>
  <cp:keywords/>
  <dc:description/>
  <cp:lastModifiedBy>yama pan</cp:lastModifiedBy>
  <cp:revision>5</cp:revision>
  <dcterms:created xsi:type="dcterms:W3CDTF">2023-10-17T02:59:42Z</dcterms:created>
  <dcterms:modified xsi:type="dcterms:W3CDTF">2026-02-02T17:54:37Z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0x0101001A14B0F575CA0844802D129D294118DE</vt:lpwstr>
  </property>
</Properties>
</file>